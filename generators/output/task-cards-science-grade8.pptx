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65D"/>
        </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4400" b="1">
                <a:solidFill>
                  <a:srgbClr val="FFFFFF"/>
                </a:solidFill>
              </a:defRPr>
            </a:pPr>
            <a:r>
              <a:t>STAAR Science Task Cards</a:t>
            </a:r>
          </a:p>
        </p:txBody>
      </p:sp>
      <p:sp>
        <p:nvSpPr>
          <p:cNvPr id="3" name="TextBox 2"/>
          <p:cNvSpPr txBox="1"/>
          <p:nvPr/>
        </p:nvSpPr>
        <p:spPr>
          <a:xfrm>
            <a:off x="1371600" y="3200400"/>
            <a:ext cx="6400800" cy="914400"/>
          </a:xfrm>
          <a:prstGeom prst="rect">
            <a:avLst/>
          </a:prstGeom>
          <a:noFill/>
        </p:spPr>
        <p:txBody>
          <a:bodyPr wrap="none">
            <a:spAutoFit/>
          </a:bodyPr>
          <a:lstStyle/>
          <a:p>
            <a:pPr algn="ctr">
              <a:defRPr sz="2400">
                <a:solidFill>
                  <a:srgbClr val="FFFFFF"/>
                </a:solidFill>
              </a:defRPr>
            </a:pPr>
            <a:r>
              <a:t>Grade 8 | 32 TEKS-Aligned Questions</a:t>
            </a:r>
          </a:p>
        </p:txBody>
      </p:sp>
      <p:sp>
        <p:nvSpPr>
          <p:cNvPr id="4" name="TextBox 3"/>
          <p:cNvSpPr txBox="1"/>
          <p:nvPr/>
        </p:nvSpPr>
        <p:spPr>
          <a:xfrm>
            <a:off x="2743200" y="5029200"/>
            <a:ext cx="3657600" cy="548640"/>
          </a:xfrm>
          <a:prstGeom prst="rect">
            <a:avLst/>
          </a:prstGeom>
          <a:noFill/>
        </p:spPr>
        <p:txBody>
          <a:bodyPr wrap="none">
            <a:spAutoFit/>
          </a:bodyPr>
          <a:lstStyle/>
          <a:p>
            <a:pPr algn="ctr"/>
            <a:r>
              <a:rPr sz="2800" b="1">
                <a:solidFill>
                  <a:srgbClr val="FFFFFF"/>
                </a:solidFill>
              </a:rPr>
              <a:t>Teach4</a:t>
            </a:r>
            <a:r>
              <a:rPr sz="2800" b="1">
                <a:solidFill>
                  <a:srgbClr val="BF8700"/>
                </a:solidFill>
              </a:rPr>
              <a:t>Texas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  </a:t>
            </a:r>
            <a:r>
              <a:rPr sz="1400">
                <a:solidFill>
                  <a:srgbClr val="BF8700"/>
                </a:solidFill>
              </a:rPr>
              <a:t>  TEKS 8.5A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An element has an atomic number of 12 and a mass number of 24. How many protons, neutrons, and electrons does a neutral atom of this element have?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12 protons, 12 neutrons, 12 electrons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12 protons, 24 neutrons, 12 electrons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24 protons, 12 neutrons, 24 electrons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12 protons, 12 neutrons, 24 electrons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  </a:t>
            </a:r>
            <a:r>
              <a:rPr sz="1400">
                <a:solidFill>
                  <a:srgbClr val="BF8700"/>
                </a:solidFill>
              </a:rPr>
              <a:t>  TEKS 8.5A</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Use the portion of the periodic table shown. Which two elements would have the MOST similar chemical properties?</a:t>
            </a:r>
          </a:p>
        </p:txBody>
      </p:sp>
      <p:pic>
        <p:nvPicPr>
          <p:cNvPr id="4" name="Picture 3" descr="image.png"/>
          <p:cNvPicPr>
            <a:picLocks noChangeAspect="1"/>
          </p:cNvPicPr>
          <p:nvPr/>
        </p:nvPicPr>
        <p:blipFill>
          <a:blip r:embed="rId2"/>
          <a:stretch>
            <a:fillRect/>
          </a:stretch>
        </p:blipFill>
        <p:spPr>
          <a:xfrm>
            <a:off x="2286000" y="2926080"/>
            <a:ext cx="6531429"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Lithium (Li) and Beryllium (Be)</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Lithium (Li) and Sodium (Na)</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Carbon (C) and Nitrogen (N)</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Helium (He) and Lithium (Li)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  </a:t>
            </a:r>
            <a:r>
              <a:rPr sz="1400">
                <a:solidFill>
                  <a:srgbClr val="BF8700"/>
                </a:solidFill>
              </a:rPr>
              <a:t>  TEKS 8.5B</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In the chemical equation 2H₂ + O₂ → 2H₂O, what do the coefficients represent?</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number of atoms in each molecule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number of molecules involved in the reaction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atomic mass of each element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speed of the reaction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#4  </a:t>
            </a:r>
            <a:r>
              <a:rPr sz="1400">
                <a:solidFill>
                  <a:srgbClr val="BF8700"/>
                </a:solidFill>
              </a:rPr>
              <a:t>  TEKS 8.5C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A student performs four different tests in the lab. Which observation provides evidence that a chemical change has occurred?</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Ice melting into water</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Sugar dissolving in tea</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A nail rusting when left outside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Cutting a piece of paper in half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#5  </a:t>
            </a:r>
            <a:r>
              <a:rPr sz="1400">
                <a:solidFill>
                  <a:srgbClr val="BF8700"/>
                </a:solidFill>
              </a:rPr>
              <a:t>  TEKS 8.5C</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Students tested four substances and recorded their observations. Which substance MOST LIKELY underwent a chemical change?</a:t>
            </a:r>
          </a:p>
        </p:txBody>
      </p:sp>
      <p:pic>
        <p:nvPicPr>
          <p:cNvPr id="4" name="Picture 3" descr="image.png"/>
          <p:cNvPicPr>
            <a:picLocks noChangeAspect="1"/>
          </p:cNvPicPr>
          <p:nvPr/>
        </p:nvPicPr>
        <p:blipFill>
          <a:blip r:embed="rId2"/>
          <a:stretch>
            <a:fillRect/>
          </a:stretch>
        </p:blipFill>
        <p:spPr>
          <a:xfrm>
            <a:off x="2286000" y="2926080"/>
            <a:ext cx="5378824"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Substance A</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Substance B</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Substance C</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Substance 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#6  </a:t>
            </a:r>
            <a:r>
              <a:rPr sz="1400">
                <a:solidFill>
                  <a:srgbClr val="BF8700"/>
                </a:solidFill>
              </a:rPr>
              <a:t>  TEKS 8.6A</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2 kg ball is kicked with a force of 10 N. What is the acceleration of the ball? (Use F = ma)</a:t>
            </a:r>
          </a:p>
        </p:txBody>
      </p:sp>
      <p:pic>
        <p:nvPicPr>
          <p:cNvPr id="4" name="Picture 3" descr="image.png"/>
          <p:cNvPicPr>
            <a:picLocks noChangeAspect="1"/>
          </p:cNvPicPr>
          <p:nvPr/>
        </p:nvPicPr>
        <p:blipFill>
          <a:blip r:embed="rId2"/>
          <a:stretch>
            <a:fillRect/>
          </a:stretch>
        </p:blipFill>
        <p:spPr>
          <a:xfrm>
            <a:off x="2286000" y="2926080"/>
            <a:ext cx="18288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2 m/s²</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5 m/s²</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10 m/s²</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20 m/s²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#7  </a:t>
            </a:r>
            <a:r>
              <a:rPr sz="1400">
                <a:solidFill>
                  <a:srgbClr val="BF8700"/>
                </a:solidFill>
              </a:rPr>
              <a:t>  TEKS 8.6A</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box is being pushed to the right with a force of 50 N. Friction pushes back with a force of 30 N. What is the net force and direction of the box's acceleration?</a:t>
            </a:r>
          </a:p>
        </p:txBody>
      </p:sp>
      <p:pic>
        <p:nvPicPr>
          <p:cNvPr id="4" name="Picture 3" descr="image.png"/>
          <p:cNvPicPr>
            <a:picLocks noChangeAspect="1"/>
          </p:cNvPicPr>
          <p:nvPr/>
        </p:nvPicPr>
        <p:blipFill>
          <a:blip r:embed="rId2"/>
          <a:stretch>
            <a:fillRect/>
          </a:stretch>
        </p:blipFill>
        <p:spPr>
          <a:xfrm>
            <a:off x="2286000" y="2926080"/>
            <a:ext cx="18288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80 N to the right</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20 N to the right</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20 N to the left</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30 N to the left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#8  </a:t>
            </a:r>
            <a:r>
              <a:rPr sz="1400">
                <a:solidFill>
                  <a:srgbClr val="BF8700"/>
                </a:solidFill>
              </a:rPr>
              <a:t>  TEKS 8.6A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According to Newton's Third Law, when a swimmer pushes water backward with her hands, what happens?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water pushes the swimmer forward with an equal force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water pushes the swimmer backward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Nothing happens to the swimmer</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water disappears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#9  </a:t>
            </a:r>
            <a:r>
              <a:rPr sz="1400">
                <a:solidFill>
                  <a:srgbClr val="BF8700"/>
                </a:solidFill>
              </a:rPr>
              <a:t>  TEKS 8.6B</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student records the position of a toy car every 2 seconds. Based on the graph, during which time interval was the car moving the fastest?</a:t>
            </a:r>
          </a:p>
        </p:txBody>
      </p:sp>
      <p:pic>
        <p:nvPicPr>
          <p:cNvPr id="4" name="Picture 3" descr="image.png"/>
          <p:cNvPicPr>
            <a:picLocks noChangeAspect="1"/>
          </p:cNvPicPr>
          <p:nvPr/>
        </p:nvPicPr>
        <p:blipFill>
          <a:blip r:embed="rId2"/>
          <a:stretch>
            <a:fillRect/>
          </a:stretch>
        </p:blipFill>
        <p:spPr>
          <a:xfrm>
            <a:off x="2286000" y="2926080"/>
            <a:ext cx="18288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0 to 2 seconds</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2 to 4 seconds</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4 to 6 seconds</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6 to 8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#10  </a:t>
            </a:r>
            <a:r>
              <a:rPr sz="1400">
                <a:solidFill>
                  <a:srgbClr val="BF8700"/>
                </a:solidFill>
              </a:rPr>
              <a:t>  TEKS 8.6B</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A car travels 150 kilometers in 3 hours. What is the average speed of the car?</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30 km/h</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45 km/h</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50 km/h</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450 km/h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#11  </a:t>
            </a:r>
            <a:r>
              <a:rPr sz="1400">
                <a:solidFill>
                  <a:srgbClr val="BF8700"/>
                </a:solidFill>
              </a:rPr>
              <a:t>  TEKS 8.6B</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The graph shows the motion of two runners during a race. Which statement is BEST supported by the data?</a:t>
            </a:r>
          </a:p>
        </p:txBody>
      </p:sp>
      <p:pic>
        <p:nvPicPr>
          <p:cNvPr id="4" name="Picture 3" descr="image.png"/>
          <p:cNvPicPr>
            <a:picLocks noChangeAspect="1"/>
          </p:cNvPicPr>
          <p:nvPr/>
        </p:nvPicPr>
        <p:blipFill>
          <a:blip r:embed="rId2"/>
          <a:stretch>
            <a:fillRect/>
          </a:stretch>
        </p:blipFill>
        <p:spPr>
          <a:xfrm>
            <a:off x="2286000" y="2926080"/>
            <a:ext cx="18288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Runner A had a constant speed the entire race</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Runner B was faster than Runner A at all times</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Runner A accelerated during the race while Runner B had constant speed</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Both runners had the same average speed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#12  </a:t>
            </a:r>
            <a:r>
              <a:rPr sz="1400">
                <a:solidFill>
                  <a:srgbClr val="BF8700"/>
                </a:solidFill>
              </a:rPr>
              <a:t>  TEKS 8.6C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A wave has a frequency of 5 Hz and a wavelength of 3 meters. What is the speed of the wave? (Use v = f × λ)</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2 m/s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8 m/s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15 m/s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1.67 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#13  </a:t>
            </a:r>
            <a:r>
              <a:rPr sz="1400">
                <a:solidFill>
                  <a:srgbClr val="BF8700"/>
                </a:solidFill>
              </a:rPr>
              <a:t>  TEKS 8.6C</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Students measured the wavelength and frequency of four different waves. Which wave has the GREATEST speed?</a:t>
            </a:r>
          </a:p>
        </p:txBody>
      </p:sp>
      <p:pic>
        <p:nvPicPr>
          <p:cNvPr id="4" name="Picture 3" descr="image.png"/>
          <p:cNvPicPr>
            <a:picLocks noChangeAspect="1"/>
          </p:cNvPicPr>
          <p:nvPr/>
        </p:nvPicPr>
        <p:blipFill>
          <a:blip r:embed="rId2"/>
          <a:stretch>
            <a:fillRect/>
          </a:stretch>
        </p:blipFill>
        <p:spPr>
          <a:xfrm>
            <a:off x="2286000" y="2926080"/>
            <a:ext cx="5378824"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Wave 1</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Wave 2</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Wave 3</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Wave 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#14  </a:t>
            </a:r>
            <a:r>
              <a:rPr sz="1400">
                <a:solidFill>
                  <a:srgbClr val="BF8700"/>
                </a:solidFill>
              </a:rPr>
              <a:t>  TEKS 8.7A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layer of Earth is responsible for the movement of tectonic plates?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Inner core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Outer core</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Mantle (asthenosphere)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Crust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#15  </a:t>
            </a:r>
            <a:r>
              <a:rPr sz="1400">
                <a:solidFill>
                  <a:srgbClr val="BF8700"/>
                </a:solidFill>
              </a:rPr>
              <a:t>  TEKS 8.7A</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The map shows the location of earthquakes and volcanoes along a boundary. What type of plate boundary is MOST LIKELY shown?</a:t>
            </a:r>
          </a:p>
        </p:txBody>
      </p:sp>
      <p:pic>
        <p:nvPicPr>
          <p:cNvPr id="4" name="Picture 3" descr="image.png"/>
          <p:cNvPicPr>
            <a:picLocks noChangeAspect="1"/>
          </p:cNvPicPr>
          <p:nvPr/>
        </p:nvPicPr>
        <p:blipFill>
          <a:blip r:embed="rId2"/>
          <a:stretch>
            <a:fillRect/>
          </a:stretch>
        </p:blipFill>
        <p:spPr>
          <a:xfrm>
            <a:off x="2286000" y="2926080"/>
            <a:ext cx="5378824"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Divergent boundary</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Convergent boundary</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Transform boundary</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No plate boundary exists here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#16  </a:t>
            </a:r>
            <a:r>
              <a:rPr sz="1400">
                <a:solidFill>
                  <a:srgbClr val="BF8700"/>
                </a:solidFill>
              </a:rPr>
              <a:t>  TEKS 8.7B</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event would MOST LIKELY occur at a divergent plate boundary?</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 deep ocean trench forms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Mountains are pushed upward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New ocean floor is created at a mid-ocean ridge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One plate slides under another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#17  </a:t>
            </a:r>
            <a:r>
              <a:rPr sz="1400">
                <a:solidFill>
                  <a:srgbClr val="BF8700"/>
                </a:solidFill>
              </a:rPr>
              <a:t>  TEKS 8.7C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of the following correctly lists objects in our universe from SMALLEST to LARGEST?</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Galaxy → Solar System → Star → Planet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Planet → Star → Solar System → Galaxy</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Star → Planet → Galaxy → Solar System</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Solar System → Planet → Star → Galaxy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#18  </a:t>
            </a:r>
            <a:r>
              <a:rPr sz="1400">
                <a:solidFill>
                  <a:srgbClr val="BF8700"/>
                </a:solidFill>
              </a:rPr>
              <a:t>  TEKS 8.7C</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student collects data on the planets in our solar system. Based on the data, which planet would have the STRONGEST gravitational pull on an object on its surface?</a:t>
            </a:r>
          </a:p>
        </p:txBody>
      </p:sp>
      <p:pic>
        <p:nvPicPr>
          <p:cNvPr id="4" name="Picture 3" descr="image.png"/>
          <p:cNvPicPr>
            <a:picLocks noChangeAspect="1"/>
          </p:cNvPicPr>
          <p:nvPr/>
        </p:nvPicPr>
        <p:blipFill>
          <a:blip r:embed="rId2"/>
          <a:stretch>
            <a:fillRect/>
          </a:stretch>
        </p:blipFill>
        <p:spPr>
          <a:xfrm>
            <a:off x="2286000" y="2926080"/>
            <a:ext cx="5378824"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Mercury</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Earth</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Jupiter</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Mars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#19  </a:t>
            </a:r>
            <a:r>
              <a:rPr sz="1400">
                <a:solidFill>
                  <a:srgbClr val="BF8700"/>
                </a:solidFill>
              </a:rPr>
              <a:t>  TEKS 8.8A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cell structure is found in plant cells but NOT in animal cells?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Cell membrane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Nucleus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Cell wall</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Mitochondria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#20  </a:t>
            </a:r>
            <a:r>
              <a:rPr sz="1400">
                <a:solidFill>
                  <a:srgbClr val="BF8700"/>
                </a:solidFill>
              </a:rPr>
              <a:t>  TEKS 8.8A</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student observes cells under a microscope and records the following data. Which sample is MOST LIKELY from a plant?</a:t>
            </a:r>
          </a:p>
        </p:txBody>
      </p:sp>
      <p:pic>
        <p:nvPicPr>
          <p:cNvPr id="4" name="Picture 3" descr="image.png"/>
          <p:cNvPicPr>
            <a:picLocks noChangeAspect="1"/>
          </p:cNvPicPr>
          <p:nvPr/>
        </p:nvPicPr>
        <p:blipFill>
          <a:blip r:embed="rId2"/>
          <a:stretch>
            <a:fillRect/>
          </a:stretch>
        </p:blipFill>
        <p:spPr>
          <a:xfrm>
            <a:off x="2286000" y="2926080"/>
            <a:ext cx="5378824"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Sample 1</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Sample 2</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Sample 3</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Sample 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#21  </a:t>
            </a:r>
            <a:r>
              <a:rPr sz="1400">
                <a:solidFill>
                  <a:srgbClr val="BF8700"/>
                </a:solidFill>
              </a:rPr>
              <a:t>  TEKS 8.8B</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In humans, brown eye color (B) is dominant over blue eye color (b). A father with genotype Bb and a mother with genotype Bb have a child. What is the probability that the child will have blue eyes?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0%</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25%</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50%</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#22  </a:t>
            </a:r>
            <a:r>
              <a:rPr sz="1400">
                <a:solidFill>
                  <a:srgbClr val="BF8700"/>
                </a:solidFill>
              </a:rPr>
              <a:t>  TEKS 8.8B</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Punnett square is used to predict offspring traits. Two parents who are both heterozygous (Rr) for round seed shape are crossed. The data table shows the expected results. What percentage of offspring are expected to have round seeds?</a:t>
            </a:r>
          </a:p>
        </p:txBody>
      </p:sp>
      <p:pic>
        <p:nvPicPr>
          <p:cNvPr id="4" name="Picture 3" descr="image.png"/>
          <p:cNvPicPr>
            <a:picLocks noChangeAspect="1"/>
          </p:cNvPicPr>
          <p:nvPr/>
        </p:nvPicPr>
        <p:blipFill>
          <a:blip r:embed="rId2"/>
          <a:stretch>
            <a:fillRect/>
          </a:stretch>
        </p:blipFill>
        <p:spPr>
          <a:xfrm>
            <a:off x="2286000" y="2926080"/>
            <a:ext cx="8312727"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25%</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50%</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75%</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#23  </a:t>
            </a:r>
            <a:r>
              <a:rPr sz="1400">
                <a:solidFill>
                  <a:srgbClr val="BF8700"/>
                </a:solidFill>
              </a:rPr>
              <a:t>  TEKS 8.8C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In an ecosystem, grass captures energy from the sun. Grasshoppers eat the grass. Frogs eat the grasshoppers. Snakes eat the frogs. Which organism in this food chain has the LEAST amount of available energy?</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Grass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Grasshopper</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Frog</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Snake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#24  </a:t>
            </a:r>
            <a:r>
              <a:rPr sz="1400">
                <a:solidFill>
                  <a:srgbClr val="BF8700"/>
                </a:solidFill>
              </a:rPr>
              <a:t>  TEKS 8.8C</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The bar graph shows the amount of energy available at each trophic level in an ecosystem. Approximately what percentage of energy is transferred from producers to primary consumers?</a:t>
            </a:r>
          </a:p>
        </p:txBody>
      </p:sp>
      <p:pic>
        <p:nvPicPr>
          <p:cNvPr id="4" name="Picture 3" descr="image.png"/>
          <p:cNvPicPr>
            <a:picLocks noChangeAspect="1"/>
          </p:cNvPicPr>
          <p:nvPr/>
        </p:nvPicPr>
        <p:blipFill>
          <a:blip r:embed="rId2"/>
          <a:stretch>
            <a:fillRect/>
          </a:stretch>
        </p:blipFill>
        <p:spPr>
          <a:xfrm>
            <a:off x="2286000" y="2926080"/>
            <a:ext cx="3048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1%</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10%</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50%</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90%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#25  </a:t>
            </a:r>
            <a:r>
              <a:rPr sz="1400">
                <a:solidFill>
                  <a:srgbClr val="BF8700"/>
                </a:solidFill>
              </a:rPr>
              <a:t>  TEKS 8.8D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A population of beetles lives on a dark forest floor. Some beetles are dark-colored and some are light-colored. Birds eat the beetles they can see. Over many generations, what will MOST LIKELY happen?</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All beetles will become light-colored</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population will have more dark-colored beetles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birds will stop eating beetles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beetles will grow larger to avoid predators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#26  </a:t>
            </a:r>
            <a:r>
              <a:rPr sz="1400">
                <a:solidFill>
                  <a:srgbClr val="BF8700"/>
                </a:solidFill>
              </a:rPr>
              <a:t>  TEKS 8.8D</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Scientists tracked a beetle population over 50 years. The data shows the percentage of dark-colored beetles over time. Which concept BEST explains the trend shown?</a:t>
            </a:r>
          </a:p>
        </p:txBody>
      </p:sp>
      <p:pic>
        <p:nvPicPr>
          <p:cNvPr id="4" name="Picture 3" descr="image.png"/>
          <p:cNvPicPr>
            <a:picLocks noChangeAspect="1"/>
          </p:cNvPicPr>
          <p:nvPr/>
        </p:nvPicPr>
        <p:blipFill>
          <a:blip r:embed="rId2"/>
          <a:stretch>
            <a:fillRect/>
          </a:stretch>
        </p:blipFill>
        <p:spPr>
          <a:xfrm>
            <a:off x="2286000" y="2926080"/>
            <a:ext cx="4572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Genetic engineering</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Selective breeding</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Natural selection</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Artificial selection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#27  </a:t>
            </a:r>
            <a:r>
              <a:rPr sz="1400">
                <a:solidFill>
                  <a:srgbClr val="BF8700"/>
                </a:solidFill>
              </a:rPr>
              <a:t>  TEKS 8.9A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factor is MOST responsible for the differences in climate between a city near the equator and a city near the North Pole?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Altitude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Latitude</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Longitude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Distance from a lake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#28  </a:t>
            </a:r>
            <a:r>
              <a:rPr sz="1400">
                <a:solidFill>
                  <a:srgbClr val="BF8700"/>
                </a:solidFill>
              </a:rPr>
              <a:t>  TEKS 8.9A</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Students collected average temperature and precipitation data for four cities. Which city MOST LIKELY has a desert climate?</a:t>
            </a:r>
          </a:p>
        </p:txBody>
      </p:sp>
      <p:pic>
        <p:nvPicPr>
          <p:cNvPr id="4" name="Picture 3" descr="image.png"/>
          <p:cNvPicPr>
            <a:picLocks noChangeAspect="1"/>
          </p:cNvPicPr>
          <p:nvPr/>
        </p:nvPicPr>
        <p:blipFill>
          <a:blip r:embed="rId2"/>
          <a:stretch>
            <a:fillRect/>
          </a:stretch>
        </p:blipFill>
        <p:spPr>
          <a:xfrm>
            <a:off x="2286000" y="2926080"/>
            <a:ext cx="5378824"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City A</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City B</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City C</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City 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#29  </a:t>
            </a:r>
            <a:r>
              <a:rPr sz="1400">
                <a:solidFill>
                  <a:srgbClr val="BF8700"/>
                </a:solidFill>
              </a:rPr>
              <a:t>  TEKS 8.9B</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A student tracks the movement of a cold front on a weather map. Which weather conditions would the student MOST LIKELY observe as the cold front passes through their area?</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Clear skies and rising temperatures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Heavy rain, thunderstorms, then cooler temperatures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Fog and steady drizzle for several days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No change in weather conditions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#30  </a:t>
            </a:r>
            <a:r>
              <a:rPr sz="1400">
                <a:solidFill>
                  <a:srgbClr val="BF8700"/>
                </a:solidFill>
              </a:rPr>
              <a:t>  TEKS 8.9C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A factory releases large amounts of carbon dioxide into the atmosphere. Which long-term effect is this MOST LIKELY to contribute to?</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Stronger magnetic field</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Increase in average global temperatures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Decrease in ocean levels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More earthquakes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#31  </a:t>
            </a:r>
            <a:r>
              <a:rPr sz="1400">
                <a:solidFill>
                  <a:srgbClr val="BF8700"/>
                </a:solidFill>
              </a:rPr>
              <a:t>  TEKS 8.9C</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The graph shows carbon dioxide levels and average global temperature over 60 years. What relationship is BEST supported by the data?</a:t>
            </a:r>
          </a:p>
        </p:txBody>
      </p:sp>
      <p:pic>
        <p:nvPicPr>
          <p:cNvPr id="4" name="Picture 3" descr="image.png"/>
          <p:cNvPicPr>
            <a:picLocks noChangeAspect="1"/>
          </p:cNvPicPr>
          <p:nvPr/>
        </p:nvPicPr>
        <p:blipFill>
          <a:blip r:embed="rId2"/>
          <a:stretch>
            <a:fillRect/>
          </a:stretch>
        </p:blipFill>
        <p:spPr>
          <a:xfrm>
            <a:off x="2286000" y="2926080"/>
            <a:ext cx="4572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As CO₂ increases, temperature decreases</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CO₂ levels and temperature are not related</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As CO₂ increases, average global temperature also increases</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Temperature controls CO₂ levels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#32  </a:t>
            </a:r>
            <a:r>
              <a:rPr sz="1400">
                <a:solidFill>
                  <a:srgbClr val="BF8700"/>
                </a:solidFill>
              </a:rPr>
              <a:t>  TEKS 8.6A</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student places a 5 kg object on a frictionless surface and applies different forces. The data is shown below. Based on Newton's Second Law, what force is needed to accelerate the object at 6 m/s²?</a:t>
            </a:r>
          </a:p>
        </p:txBody>
      </p:sp>
      <p:pic>
        <p:nvPicPr>
          <p:cNvPr id="4" name="Picture 3" descr="image.png"/>
          <p:cNvPicPr>
            <a:picLocks noChangeAspect="1"/>
          </p:cNvPicPr>
          <p:nvPr/>
        </p:nvPicPr>
        <p:blipFill>
          <a:blip r:embed="rId2"/>
          <a:stretch>
            <a:fillRect/>
          </a:stretch>
        </p:blipFill>
        <p:spPr>
          <a:xfrm>
            <a:off x="2286000" y="2926080"/>
            <a:ext cx="4572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11 N</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25 N</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30 N</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35 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