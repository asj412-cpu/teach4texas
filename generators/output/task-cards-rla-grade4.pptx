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65D"/>
        </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4400" b="1">
                <a:solidFill>
                  <a:srgbClr val="FFFFFF"/>
                </a:solidFill>
              </a:defRPr>
            </a:pPr>
            <a:r>
              <a:t>STAAR RLA Task Cards</a:t>
            </a:r>
          </a:p>
        </p:txBody>
      </p:sp>
      <p:sp>
        <p:nvSpPr>
          <p:cNvPr id="3" name="TextBox 2"/>
          <p:cNvSpPr txBox="1"/>
          <p:nvPr/>
        </p:nvSpPr>
        <p:spPr>
          <a:xfrm>
            <a:off x="1371600" y="3200400"/>
            <a:ext cx="6400800" cy="914400"/>
          </a:xfrm>
          <a:prstGeom prst="rect">
            <a:avLst/>
          </a:prstGeom>
          <a:noFill/>
        </p:spPr>
        <p:txBody>
          <a:bodyPr wrap="none">
            <a:spAutoFit/>
          </a:bodyPr>
          <a:lstStyle/>
          <a:p>
            <a:pPr algn="ctr">
              <a:defRPr sz="2400">
                <a:solidFill>
                  <a:srgbClr val="FFFFFF"/>
                </a:solidFill>
              </a:defRPr>
            </a:pPr>
            <a:r>
              <a:t>Grade 4 | 32 TEKS-Aligned Questions</a:t>
            </a:r>
          </a:p>
        </p:txBody>
      </p:sp>
      <p:sp>
        <p:nvSpPr>
          <p:cNvPr id="4" name="TextBox 3"/>
          <p:cNvSpPr txBox="1"/>
          <p:nvPr/>
        </p:nvSpPr>
        <p:spPr>
          <a:xfrm>
            <a:off x="2743200" y="5029200"/>
            <a:ext cx="3657600" cy="548640"/>
          </a:xfrm>
          <a:prstGeom prst="rect">
            <a:avLst/>
          </a:prstGeom>
          <a:noFill/>
        </p:spPr>
        <p:txBody>
          <a:bodyPr wrap="none">
            <a:spAutoFit/>
          </a:bodyPr>
          <a:lstStyle/>
          <a:p>
            <a:pPr algn="ctr"/>
            <a:r>
              <a:rPr sz="2800" b="1">
                <a:solidFill>
                  <a:srgbClr val="FFFFFF"/>
                </a:solidFill>
              </a:rPr>
              <a:t>Teach4</a:t>
            </a:r>
            <a:r>
              <a:rPr sz="2800" b="1">
                <a:solidFill>
                  <a:srgbClr val="548235"/>
                </a:solidFill>
              </a:rPr>
              <a:t>Texas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  </a:t>
            </a:r>
            <a:r>
              <a:rPr sz="1400">
                <a:solidFill>
                  <a:srgbClr val="548235"/>
                </a:solidFill>
              </a:rPr>
              <a:t>  TEKS 4.6F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old lighthouse had stood on the cliff for over a hundred years. Its paint was peeling, and the light no longer worked. Still, every evening, Mr. Hendricks climbed the stairs to the top and looked out at the sea.</a:t>
            </a:r>
            <a:br/>
            <a:br/>
            <a:r>
              <a:t>What can the reader infer about Mr. Hendricks?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He is afraid of the dark.</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He has a deep connection to the lighthouse.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He is trying to fix the light.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He does not like living near the ocean.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  </a:t>
            </a:r>
            <a:r>
              <a:rPr sz="1400">
                <a:solidFill>
                  <a:srgbClr val="548235"/>
                </a:solidFill>
              </a:rPr>
              <a:t>  TEKS 4.10D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dancer floated across the stage like a feather in the breeze.</a:t>
            </a:r>
            <a:br/>
            <a:br/>
            <a:r>
              <a:t>What type of figurative language is used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Metaphor</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Personification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Simile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Alliteration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  </a:t>
            </a:r>
            <a:r>
              <a:rPr sz="1400">
                <a:solidFill>
                  <a:srgbClr val="548235"/>
                </a:solidFill>
              </a:rPr>
              <a:t>  TEKS 4.9D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Sea turtles face many dangers. Pollution in the ocean can harm them. Bright lights on beaches confuse baby turtles trying to find the sea. Fishing nets sometimes trap them underwater.</a:t>
            </a:r>
            <a:br/>
            <a:br/>
            <a:r>
              <a:t>What is the main idea of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Sea turtles live in the ocean.</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Baby turtles are born on beaches.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Sea turtles face many threats to their survival.</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Fishing is dangerous for all animals.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#4  </a:t>
            </a:r>
            <a:r>
              <a:rPr sz="1400">
                <a:solidFill>
                  <a:srgbClr val="548235"/>
                </a:solidFill>
              </a:rPr>
              <a:t>  TEKS 4.7C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Every student should have at least thirty minutes of recess each day. Studies show that physical activity helps students focus better in class. Without enough time to play, students become restless and have trouble learning.</a:t>
            </a:r>
            <a:br/>
            <a:br/>
            <a:r>
              <a:t>What is the author's purpose for writing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describe what happens at recess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entertain readers with a story about recess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persuade readers that students need more recess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inform readers about school schedules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#5  </a:t>
            </a:r>
            <a:r>
              <a:rPr sz="1400">
                <a:solidFill>
                  <a:srgbClr val="548235"/>
                </a:solidFill>
              </a:rPr>
              <a:t>  TEKS 4.9E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is comparing the climates of two Texas regions. Look at the graphic organizer below.</a:t>
            </a:r>
            <a:br/>
            <a:br/>
            <a:r>
              <a:t>Which detail belongs in the center section?</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Gets over 50 inches of rain per year</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Located in Texas</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Has very little rainfall</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Covered in pine forests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#6  </a:t>
            </a:r>
            <a:r>
              <a:rPr sz="1400">
                <a:solidFill>
                  <a:srgbClr val="548235"/>
                </a:solidFill>
              </a:rPr>
              <a:t>  TEKS 4.11D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team celebrated their victory and the fans cheered loudly.</a:t>
            </a:r>
            <a:br/>
            <a:br/>
            <a:r>
              <a:t>Which revision correctly adds a comma to this compound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team celebrated their victory, and the fans cheered loudly.</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team celebrated, their victory and the fans cheered loudly.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team celebrated their victory and, the fans cheered loudly.</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team, celebrated their victory and the fans cheered loudly.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#7  </a:t>
            </a:r>
            <a:r>
              <a:rPr sz="1400">
                <a:solidFill>
                  <a:srgbClr val="548235"/>
                </a:solidFill>
              </a:rPr>
              <a:t>  TEKS 4.6E</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Anna stared at the math test on her desk. She had studied all week, but the numbers swam before her eyes. She took three deep breaths, picked up her pencil, and started with the first problem.</a:t>
            </a:r>
            <a:br/>
            <a:br/>
            <a:r>
              <a:t>Which sentence best describes how Anna feels at the beginning of the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She feels confident and prepared.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She feels anxious but determined.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She feels bored and uninterested.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She feels angry at her teacher.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#8  </a:t>
            </a:r>
            <a:r>
              <a:rPr sz="1400">
                <a:solidFill>
                  <a:srgbClr val="548235"/>
                </a:solidFill>
              </a:rPr>
              <a:t>  TEKS 4.10A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ambassador tried to foster goodwill between the two countries by organizing cultural exchanges.</a:t>
            </a:r>
            <a:br/>
            <a:br/>
            <a:r>
              <a:t>What does the word "foster" mean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prevent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encourage and develop</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hide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destroy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#9  </a:t>
            </a:r>
            <a:r>
              <a:rPr sz="1400">
                <a:solidFill>
                  <a:srgbClr val="548235"/>
                </a:solidFill>
              </a:rPr>
              <a:t>  TEKS 4.7D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Hurricanes form over warm ocean water. As the warm, moist air rises, it creates an area of low pressure. More air rushes in to fill the space. This cycle continues, and the storm grows stronger. Eventually, the spinning winds can reach speeds over 74 miles per hour.</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Problem and solution</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Compare and contrast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Cause and effect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Description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#10  </a:t>
            </a:r>
            <a:r>
              <a:rPr sz="1400">
                <a:solidFill>
                  <a:srgbClr val="548235"/>
                </a:solidFill>
              </a:rPr>
              <a:t>  TEKS 4.6G</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Mrs. Ramirez stayed at the school until 6:00 every evening, tutoring students who needed extra help. She bought supplies with her own money and often called parents to share good news about their children.</a:t>
            </a:r>
            <a:br/>
            <a:br/>
            <a:r>
              <a:t>Which word best describes Mrs. Ramirez?</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Strict</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Dedicated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Impatient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Cautious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#11  </a:t>
            </a:r>
            <a:r>
              <a:rPr sz="1400">
                <a:solidFill>
                  <a:srgbClr val="548235"/>
                </a:solidFill>
              </a:rPr>
              <a:t>  TEKS 4.10D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thunder grumbled angrily as the storm rolled into town.</a:t>
            </a:r>
            <a:br/>
            <a:br/>
            <a:r>
              <a:t>What type of figurative language is used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Simile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Metaphor</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Personification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Hyperbole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#12  </a:t>
            </a:r>
            <a:r>
              <a:rPr sz="1400">
                <a:solidFill>
                  <a:srgbClr val="548235"/>
                </a:solidFill>
              </a:rPr>
              <a:t>  TEKS 4.9D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web diagram below.</a:t>
            </a:r>
            <a:br/>
            <a:br/>
            <a:r>
              <a:t>Which detail could be added as another branch?</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Bats use echolocation to find food.</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Sahara Desert gets very little rain.</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Oceans are home to many types of fish.</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Texas became a state in 1845.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#13  </a:t>
            </a:r>
            <a:r>
              <a:rPr sz="1400">
                <a:solidFill>
                  <a:srgbClr val="548235"/>
                </a:solidFill>
              </a:rPr>
              <a:t>  TEKS 4.8C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Sam Houston was born in Virginia in 1793. He later moved to Tennessee, where he became governor. After moving to Texas, Houston led the Texan army to victory at the Battle of San Jacinto in 1836. He went on to serve as the president of the Republic of Texas.</a:t>
            </a:r>
            <a:br/>
            <a:br/>
            <a:r>
              <a:t>What type of text is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myth</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 biography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 fable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Science fiction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#14  </a:t>
            </a:r>
            <a:r>
              <a:rPr sz="1400">
                <a:solidFill>
                  <a:srgbClr val="548235"/>
                </a:solidFill>
              </a:rPr>
              <a:t>  TEKS 4.6F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stray cat had been coming to Grandma's porch for weeks. Each day, Grandma set out a small dish of food. One morning, the cat rubbed against her leg and purred.</a:t>
            </a:r>
            <a:br/>
            <a:br/>
            <a:r>
              <a:t>What can the reader conclude about the cat?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cat is afraid of Grandma.</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cat is beginning to trust Grandma.</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cat wants to live inside.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cat does not like the food.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#15  </a:t>
            </a:r>
            <a:r>
              <a:rPr sz="1400">
                <a:solidFill>
                  <a:srgbClr val="548235"/>
                </a:solidFill>
              </a:rPr>
              <a:t>  TEKS 4.11D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correctly uses quotation marks?</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Mom said, it's time for dinner.</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Mom said "it's time for dinner."</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"Mom said it's time for dinner."</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Mom said, "It's time for dinner."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#16  </a:t>
            </a:r>
            <a:r>
              <a:rPr sz="1400">
                <a:solidFill>
                  <a:srgbClr val="548235"/>
                </a:solidFill>
              </a:rPr>
              <a:t>  TEKS 4.7D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Alligators and crocodiles may look similar, but they have important differences. Alligators have wide, U-shaped snouts, while crocodiles have narrow, V-shaped snouts. Alligators prefer freshwater habitats, but crocodiles can live in both fresh and saltwater.</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Sequence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Problem and solution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Compare and contrast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Cause and effect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#17  </a:t>
            </a:r>
            <a:r>
              <a:rPr sz="1400">
                <a:solidFill>
                  <a:srgbClr val="548235"/>
                </a:solidFill>
              </a:rPr>
              <a:t>  TEKS 4.9E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Look at the T-chart below.</a:t>
            </a:r>
            <a:br/>
            <a:br/>
            <a:r>
              <a:t>Based on the chart, which statement is true?</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Renewable and nonrenewable resources are the same.</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Nonrenewable resources can be replaced quickly.</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Renewable resources will never run out.</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Renewable resources can be replaced, but nonrenewable resources cannot.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#18  </a:t>
            </a:r>
            <a:r>
              <a:rPr sz="1400">
                <a:solidFill>
                  <a:srgbClr val="548235"/>
                </a:solidFill>
              </a:rPr>
              <a:t>  TEKS 4.10A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new evidence helped to clarify the mystery that had puzzled detectives for months.</a:t>
            </a:r>
            <a:br/>
            <a:br/>
            <a:r>
              <a:t>What does the word "clarify" mean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make more confusing</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hide the truth</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make clear or easier to understand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start over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#19  </a:t>
            </a:r>
            <a:r>
              <a:rPr sz="1400">
                <a:solidFill>
                  <a:srgbClr val="548235"/>
                </a:solidFill>
              </a:rPr>
              <a:t>  TEKS 4.6F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Lucy packed her telescope, star chart, and a warm blanket into her backpack. She checked the weather forecast one more time -- clear skies all night. She smiled and headed out the door as the sun began to set.</a:t>
            </a:r>
            <a:br/>
            <a:br/>
            <a:r>
              <a:t>What is Lucy planning to do?</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Go camping with friends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Watch the stars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Have a picnic</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Go on a hike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#20  </a:t>
            </a:r>
            <a:r>
              <a:rPr sz="1400">
                <a:solidFill>
                  <a:srgbClr val="548235"/>
                </a:solidFill>
              </a:rPr>
              <a:t>  TEKS 4.10D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Her smile was a ray of sunshine on a cloudy day.</a:t>
            </a:r>
            <a:br/>
            <a:br/>
            <a:r>
              <a:t>What type of figurative language is used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Simile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Personification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Alliteration</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Metaphor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#21  </a:t>
            </a:r>
            <a:r>
              <a:rPr sz="1400">
                <a:solidFill>
                  <a:srgbClr val="548235"/>
                </a:solidFill>
              </a:rPr>
              <a:t>  TEKS 4.7C</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bald eagle was once in danger of disappearing from the United States. In 1972, a harmful pesticide called DDT was banned. Wildlife officials also created protected nesting areas. By 2007, the bald eagle had recovered enough to be removed from the endangered species list.</a:t>
            </a:r>
            <a:br/>
            <a:br/>
            <a:r>
              <a:t>What is the author's purpose for writing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persuade readers to protect eagles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entertain readers with a story about birds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inform readers about how the bald eagle was saved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explain how pesticides work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#22  </a:t>
            </a:r>
            <a:r>
              <a:rPr sz="1400">
                <a:solidFill>
                  <a:srgbClr val="548235"/>
                </a:solidFill>
              </a:rPr>
              <a:t>  TEKS 4.11D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The students who finished early could read a book or draw quietly.</a:t>
            </a:r>
            <a:br/>
            <a:br/>
            <a:r>
              <a:t>What is the complete subject of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students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students who finished early</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students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who finished early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#23  </a:t>
            </a:r>
            <a:r>
              <a:rPr sz="1400">
                <a:solidFill>
                  <a:srgbClr val="548235"/>
                </a:solidFill>
              </a:rPr>
              <a:t>  TEKS 4.9D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Texas is home to many different ecosystems. The Piney Woods in East Texas have tall pine trees and lots of rainfall. The deserts in West Texas are hot and dry with very little rain. The Gulf Coast has sandy beaches and marshes where many birds live.</a:t>
            </a:r>
            <a:br/>
            <a:br/>
            <a:r>
              <a:t>Which sentence best states the main idea?</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Gulf Coast has sandy beaches.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Texas has many different ecosystems.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Pine trees grow in East Texas.</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West Texas is hot and dry.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#24  </a:t>
            </a:r>
            <a:r>
              <a:rPr sz="1400">
                <a:solidFill>
                  <a:srgbClr val="548235"/>
                </a:solidFill>
              </a:rPr>
              <a:t>  TEKS 4.9E</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A student is organizing information about the steps for writing a research report. Look at the flow chart below.</a:t>
            </a:r>
            <a:br/>
            <a:br/>
            <a:r>
              <a:t>What step is missing?</a:t>
            </a:r>
          </a:p>
        </p:txBody>
      </p:sp>
      <p:pic>
        <p:nvPicPr>
          <p:cNvPr id="4" name="Picture 3" descr="image.png"/>
          <p:cNvPicPr>
            <a:picLocks noChangeAspect="1"/>
          </p:cNvPicPr>
          <p:nvPr/>
        </p:nvPicPr>
        <p:blipFill>
          <a:blip r:embed="rId2"/>
          <a:stretch>
            <a:fillRect/>
          </a:stretch>
        </p:blipFill>
        <p:spPr>
          <a:xfrm>
            <a:off x="2286000" y="2926080"/>
            <a:ext cx="2286000"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Choose a topic</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Take a nap</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Play a game</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Eat a snack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#25  </a:t>
            </a:r>
            <a:r>
              <a:rPr sz="1400">
                <a:solidFill>
                  <a:srgbClr val="548235"/>
                </a:solidFill>
              </a:rPr>
              <a:t>  TEKS 4.6E</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David had been waiting all year for the science fair. He spent three weeks building his volcano model. When the judges walked by his table, he stood tall and explained every detail with a wide grin.</a:t>
            </a:r>
            <a:br/>
            <a:br/>
            <a:r>
              <a:t>How does David feel about his project?</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Embarrassed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Nervous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Proud</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Disappointed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#26  </a:t>
            </a:r>
            <a:r>
              <a:rPr sz="1400">
                <a:solidFill>
                  <a:srgbClr val="548235"/>
                </a:solidFill>
              </a:rPr>
              <a:t>  TEKS 4.8A</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Long ago, people believed that a giant named Paul Bunyan created the Great Lakes by dragging his enormous axe across the land. His blue ox, Babe, was said to be so large that its footprints formed lakes in Minnesota.</a:t>
            </a:r>
            <a:br/>
            <a:br/>
            <a:r>
              <a:t>What type of story is this passage from?</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A historical fiction novel</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A tall tale</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A science article</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An autobiography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#27  </a:t>
            </a:r>
            <a:r>
              <a:rPr sz="1400">
                <a:solidFill>
                  <a:srgbClr val="548235"/>
                </a:solidFill>
              </a:rPr>
              <a:t>  TEKS 4.10D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sentence.</a:t>
            </a:r>
            <a:br/>
            <a:br/>
            <a:r>
              <a:t>I've told you a million times to clean your room!</a:t>
            </a:r>
            <a:br/>
            <a:br/>
            <a:r>
              <a:t>What type of figurative language is used in this sentence?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Simile</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Personification</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Metaphor</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Hyperbole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#28  </a:t>
            </a:r>
            <a:r>
              <a:rPr sz="1400">
                <a:solidFill>
                  <a:srgbClr val="548235"/>
                </a:solidFill>
              </a:rPr>
              <a:t>  TEKS 4.7D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Many schools have replaced sugary drinks in vending machines with water and juice. This change happened because students were consuming too much sugar during the school day. As a result, students are now making healthier choices at lunch.</a:t>
            </a:r>
            <a:br/>
            <a:br/>
            <a:r>
              <a:t>What text structure does this passage use?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Description</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Compare and contrast</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Cause and effect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Sequence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#29  </a:t>
            </a:r>
            <a:r>
              <a:rPr sz="1400">
                <a:solidFill>
                  <a:srgbClr val="548235"/>
                </a:solidFill>
              </a:rPr>
              <a:t>  TEKS 4.9D</a:t>
            </a:r>
          </a:p>
        </p:txBody>
      </p:sp>
      <p:sp>
        <p:nvSpPr>
          <p:cNvPr id="3" name="TextBox 2"/>
          <p:cNvSpPr txBox="1"/>
          <p:nvPr/>
        </p:nvSpPr>
        <p:spPr>
          <a:xfrm>
            <a:off x="457200" y="1097280"/>
            <a:ext cx="8229600" cy="1645920"/>
          </a:xfrm>
          <a:prstGeom prst="rect">
            <a:avLst/>
          </a:prstGeom>
          <a:noFill/>
        </p:spPr>
        <p:txBody>
          <a:bodyPr wrap="square">
            <a:spAutoFit/>
          </a:bodyPr>
          <a:lstStyle/>
          <a:p>
            <a:pPr>
              <a:defRPr sz="2200">
                <a:solidFill>
                  <a:srgbClr val="2D2D2D"/>
                </a:solidFill>
              </a:defRPr>
            </a:pPr>
            <a:r>
              <a:t>Use the table below to answer the question.</a:t>
            </a:r>
            <a:br/>
            <a:br/>
            <a:r>
              <a:t>Based on the table, which state has the largest area?</a:t>
            </a:r>
          </a:p>
        </p:txBody>
      </p:sp>
      <p:pic>
        <p:nvPicPr>
          <p:cNvPr id="4" name="Picture 3" descr="image.png"/>
          <p:cNvPicPr>
            <a:picLocks noChangeAspect="1"/>
          </p:cNvPicPr>
          <p:nvPr/>
        </p:nvPicPr>
        <p:blipFill>
          <a:blip r:embed="rId2"/>
          <a:stretch>
            <a:fillRect/>
          </a:stretch>
        </p:blipFill>
        <p:spPr>
          <a:xfrm>
            <a:off x="2286000" y="2926080"/>
            <a:ext cx="5378824" cy="1828800"/>
          </a:xfrm>
          <a:prstGeom prst="rect">
            <a:avLst/>
          </a:prstGeom>
        </p:spPr>
      </p:pic>
      <p:sp>
        <p:nvSpPr>
          <p:cNvPr id="5" name="TextBox 4"/>
          <p:cNvSpPr txBox="1"/>
          <p:nvPr/>
        </p:nvSpPr>
        <p:spPr>
          <a:xfrm>
            <a:off x="914400" y="5029200"/>
            <a:ext cx="3657600" cy="457200"/>
          </a:xfrm>
          <a:prstGeom prst="rect">
            <a:avLst/>
          </a:prstGeom>
          <a:noFill/>
        </p:spPr>
        <p:txBody>
          <a:bodyPr wrap="none">
            <a:spAutoFit/>
          </a:bodyPr>
          <a:lstStyle/>
          <a:p>
            <a:r>
              <a:rPr sz="1800" b="1">
                <a:solidFill>
                  <a:srgbClr val="1B365D"/>
                </a:solidFill>
              </a:rPr>
              <a:t>A)  </a:t>
            </a:r>
            <a:r>
              <a:rPr sz="1800">
                <a:solidFill>
                  <a:srgbClr val="2D2D2D"/>
                </a:solidFill>
              </a:rPr>
              <a:t>Texas</a:t>
            </a:r>
          </a:p>
        </p:txBody>
      </p:sp>
      <p:sp>
        <p:nvSpPr>
          <p:cNvPr id="6" name="TextBox 5"/>
          <p:cNvSpPr txBox="1"/>
          <p:nvPr/>
        </p:nvSpPr>
        <p:spPr>
          <a:xfrm>
            <a:off x="5029200" y="5029200"/>
            <a:ext cx="3657600" cy="457200"/>
          </a:xfrm>
          <a:prstGeom prst="rect">
            <a:avLst/>
          </a:prstGeom>
          <a:noFill/>
        </p:spPr>
        <p:txBody>
          <a:bodyPr wrap="none">
            <a:spAutoFit/>
          </a:bodyPr>
          <a:lstStyle/>
          <a:p>
            <a:r>
              <a:rPr sz="1800" b="1">
                <a:solidFill>
                  <a:srgbClr val="1B365D"/>
                </a:solidFill>
              </a:rPr>
              <a:t>B)  </a:t>
            </a:r>
            <a:r>
              <a:rPr sz="1800">
                <a:solidFill>
                  <a:srgbClr val="2D2D2D"/>
                </a:solidFill>
              </a:rPr>
              <a:t>California</a:t>
            </a:r>
          </a:p>
        </p:txBody>
      </p:sp>
      <p:sp>
        <p:nvSpPr>
          <p:cNvPr id="7" name="TextBox 6"/>
          <p:cNvSpPr txBox="1"/>
          <p:nvPr/>
        </p:nvSpPr>
        <p:spPr>
          <a:xfrm>
            <a:off x="914400" y="5577840"/>
            <a:ext cx="3657600" cy="457200"/>
          </a:xfrm>
          <a:prstGeom prst="rect">
            <a:avLst/>
          </a:prstGeom>
          <a:noFill/>
        </p:spPr>
        <p:txBody>
          <a:bodyPr wrap="none">
            <a:spAutoFit/>
          </a:bodyPr>
          <a:lstStyle/>
          <a:p>
            <a:r>
              <a:rPr sz="1800" b="1">
                <a:solidFill>
                  <a:srgbClr val="1B365D"/>
                </a:solidFill>
              </a:rPr>
              <a:t>C)  </a:t>
            </a:r>
            <a:r>
              <a:rPr sz="1800">
                <a:solidFill>
                  <a:srgbClr val="2D2D2D"/>
                </a:solidFill>
              </a:rPr>
              <a:t>Alaska</a:t>
            </a:r>
          </a:p>
        </p:txBody>
      </p:sp>
      <p:sp>
        <p:nvSpPr>
          <p:cNvPr id="8" name="TextBox 7"/>
          <p:cNvSpPr txBox="1"/>
          <p:nvPr/>
        </p:nvSpPr>
        <p:spPr>
          <a:xfrm>
            <a:off x="5029200" y="5577840"/>
            <a:ext cx="3657600" cy="457200"/>
          </a:xfrm>
          <a:prstGeom prst="rect">
            <a:avLst/>
          </a:prstGeom>
          <a:noFill/>
        </p:spPr>
        <p:txBody>
          <a:bodyPr wrap="none">
            <a:spAutoFit/>
          </a:bodyPr>
          <a:lstStyle/>
          <a:p>
            <a:r>
              <a:rPr sz="1800" b="1">
                <a:solidFill>
                  <a:srgbClr val="1B365D"/>
                </a:solidFill>
              </a:rPr>
              <a:t>D)  </a:t>
            </a:r>
            <a:r>
              <a:rPr sz="1800">
                <a:solidFill>
                  <a:srgbClr val="2D2D2D"/>
                </a:solidFill>
              </a:rPr>
              <a:t>Montana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#30  </a:t>
            </a:r>
            <a:r>
              <a:rPr sz="1400">
                <a:solidFill>
                  <a:srgbClr val="548235"/>
                </a:solidFill>
              </a:rPr>
              <a:t>  TEKS 4.11D</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Which sentence correctly uses a possessive noun?</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The childrens' books were on the shelf.</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The children's books were on the shelf.</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The childrens books were on the shelf.</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The children books' were on the shelf.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#31  </a:t>
            </a:r>
            <a:r>
              <a:rPr sz="1400">
                <a:solidFill>
                  <a:srgbClr val="548235"/>
                </a:solidFill>
              </a:rPr>
              <a:t>  TEKS 4.6G</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At first, Marcus refused to try the new food at dinner. His mom encouraged him to take just one bite. After tasting it, Marcus asked for a second helping. "This is amazing!" he said.</a:t>
            </a:r>
            <a:br/>
            <a:br/>
            <a:r>
              <a:t>How do Marcus's feelings change in this passage?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From happy to sad</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From excited to bored</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From reluctant to enthusiastic</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From angry to frightened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274320"/>
            <a:ext cx="8595360" cy="548640"/>
          </a:xfrm>
          <a:prstGeom prst="rect">
            <a:avLst/>
          </a:prstGeom>
          <a:noFill/>
        </p:spPr>
        <p:txBody>
          <a:bodyPr wrap="none">
            <a:spAutoFit/>
          </a:bodyPr>
          <a:lstStyle/>
          <a:p>
            <a:r>
              <a:rPr sz="1800" b="1">
                <a:solidFill>
                  <a:srgbClr val="1B365D"/>
                </a:solidFill>
              </a:rPr>
              <a:t>  #32  </a:t>
            </a:r>
            <a:r>
              <a:rPr sz="1400">
                <a:solidFill>
                  <a:srgbClr val="548235"/>
                </a:solidFill>
              </a:rPr>
              <a:t>  TEKS 4.10F</a:t>
            </a:r>
          </a:p>
        </p:txBody>
      </p:sp>
      <p:sp>
        <p:nvSpPr>
          <p:cNvPr id="3" name="TextBox 2"/>
          <p:cNvSpPr txBox="1"/>
          <p:nvPr/>
        </p:nvSpPr>
        <p:spPr>
          <a:xfrm>
            <a:off x="457200" y="1097280"/>
            <a:ext cx="8229600" cy="2743200"/>
          </a:xfrm>
          <a:prstGeom prst="rect">
            <a:avLst/>
          </a:prstGeom>
          <a:noFill/>
        </p:spPr>
        <p:txBody>
          <a:bodyPr wrap="square">
            <a:spAutoFit/>
          </a:bodyPr>
          <a:lstStyle/>
          <a:p>
            <a:pPr>
              <a:defRPr sz="2200">
                <a:solidFill>
                  <a:srgbClr val="2D2D2D"/>
                </a:solidFill>
              </a:defRPr>
            </a:pPr>
            <a:r>
              <a:t>Read the passage.</a:t>
            </a:r>
            <a:br/>
            <a:br/>
            <a:r>
              <a:t>The author writes: "The city was a beehive of activity. Cars buzzed along the streets while people hurried from place to place."</a:t>
            </a:r>
            <a:br/>
            <a:br/>
            <a:r>
              <a:t>Why does the author compare the city to a beehive?</a:t>
            </a:r>
          </a:p>
        </p:txBody>
      </p:sp>
      <p:sp>
        <p:nvSpPr>
          <p:cNvPr id="4" name="TextBox 3"/>
          <p:cNvSpPr txBox="1"/>
          <p:nvPr/>
        </p:nvSpPr>
        <p:spPr>
          <a:xfrm>
            <a:off x="914400" y="4114800"/>
            <a:ext cx="3657600" cy="457200"/>
          </a:xfrm>
          <a:prstGeom prst="rect">
            <a:avLst/>
          </a:prstGeom>
          <a:noFill/>
        </p:spPr>
        <p:txBody>
          <a:bodyPr wrap="none">
            <a:spAutoFit/>
          </a:bodyPr>
          <a:lstStyle/>
          <a:p>
            <a:r>
              <a:rPr sz="1800" b="1">
                <a:solidFill>
                  <a:srgbClr val="1B365D"/>
                </a:solidFill>
              </a:rPr>
              <a:t>A)  </a:t>
            </a:r>
            <a:r>
              <a:rPr sz="1800">
                <a:solidFill>
                  <a:srgbClr val="2D2D2D"/>
                </a:solidFill>
              </a:rPr>
              <a:t>To show that the city has many bees</a:t>
            </a:r>
          </a:p>
        </p:txBody>
      </p:sp>
      <p:sp>
        <p:nvSpPr>
          <p:cNvPr id="5" name="TextBox 4"/>
          <p:cNvSpPr txBox="1"/>
          <p:nvPr/>
        </p:nvSpPr>
        <p:spPr>
          <a:xfrm>
            <a:off x="5029200" y="4114800"/>
            <a:ext cx="3657600" cy="457200"/>
          </a:xfrm>
          <a:prstGeom prst="rect">
            <a:avLst/>
          </a:prstGeom>
          <a:noFill/>
        </p:spPr>
        <p:txBody>
          <a:bodyPr wrap="none">
            <a:spAutoFit/>
          </a:bodyPr>
          <a:lstStyle/>
          <a:p>
            <a:r>
              <a:rPr sz="1800" b="1">
                <a:solidFill>
                  <a:srgbClr val="1B365D"/>
                </a:solidFill>
              </a:rPr>
              <a:t>B)  </a:t>
            </a:r>
            <a:r>
              <a:rPr sz="1800">
                <a:solidFill>
                  <a:srgbClr val="2D2D2D"/>
                </a:solidFill>
              </a:rPr>
              <a:t>To help the reader picture how busy the city is</a:t>
            </a:r>
          </a:p>
        </p:txBody>
      </p:sp>
      <p:sp>
        <p:nvSpPr>
          <p:cNvPr id="6" name="TextBox 5"/>
          <p:cNvSpPr txBox="1"/>
          <p:nvPr/>
        </p:nvSpPr>
        <p:spPr>
          <a:xfrm>
            <a:off x="914400" y="4663440"/>
            <a:ext cx="3657600" cy="457200"/>
          </a:xfrm>
          <a:prstGeom prst="rect">
            <a:avLst/>
          </a:prstGeom>
          <a:noFill/>
        </p:spPr>
        <p:txBody>
          <a:bodyPr wrap="none">
            <a:spAutoFit/>
          </a:bodyPr>
          <a:lstStyle/>
          <a:p>
            <a:r>
              <a:rPr sz="1800" b="1">
                <a:solidFill>
                  <a:srgbClr val="1B365D"/>
                </a:solidFill>
              </a:rPr>
              <a:t>C)  </a:t>
            </a:r>
            <a:r>
              <a:rPr sz="1800">
                <a:solidFill>
                  <a:srgbClr val="2D2D2D"/>
                </a:solidFill>
              </a:rPr>
              <a:t>To explain how beehives are built</a:t>
            </a:r>
          </a:p>
        </p:txBody>
      </p:sp>
      <p:sp>
        <p:nvSpPr>
          <p:cNvPr id="7" name="TextBox 6"/>
          <p:cNvSpPr txBox="1"/>
          <p:nvPr/>
        </p:nvSpPr>
        <p:spPr>
          <a:xfrm>
            <a:off x="5029200" y="4663440"/>
            <a:ext cx="3657600" cy="457200"/>
          </a:xfrm>
          <a:prstGeom prst="rect">
            <a:avLst/>
          </a:prstGeom>
          <a:noFill/>
        </p:spPr>
        <p:txBody>
          <a:bodyPr wrap="none">
            <a:spAutoFit/>
          </a:bodyPr>
          <a:lstStyle/>
          <a:p>
            <a:r>
              <a:rPr sz="1800" b="1">
                <a:solidFill>
                  <a:srgbClr val="1B365D"/>
                </a:solidFill>
              </a:rPr>
              <a:t>D)  </a:t>
            </a:r>
            <a:r>
              <a:rPr sz="1800">
                <a:solidFill>
                  <a:srgbClr val="2D2D2D"/>
                </a:solidFill>
              </a:rPr>
              <a:t>To describe the shape of the buildings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